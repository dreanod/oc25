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731520"/>
            <a:ext cx="8412480" cy="0"/>
          </a:xfrm>
          <a:prstGeom prst="line">
            <a:avLst/>
          </a:prstGeom>
          <a:noFill/>
          <a:ln w="254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91440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Titre de la Présentation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65760" y="19659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Sous-titre ou description succincte de la présentation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2514600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6517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Auteur     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Prénom Nom
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Date       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Mars 2026
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Version     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87375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Ars Typographica · Charte Graphique Minimaliste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4124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108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 de la présentation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6868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271016"/>
            <a:ext cx="8412480" cy="0"/>
          </a:xfrm>
          <a:prstGeom prst="line">
            <a:avLst/>
          </a:prstGeom>
          <a:noFill/>
          <a:ln w="508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868680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Introduction et contexte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581912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2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984248"/>
            <a:ext cx="8412480" cy="0"/>
          </a:xfrm>
          <a:prstGeom prst="line">
            <a:avLst/>
          </a:prstGeom>
          <a:noFill/>
          <a:ln w="5080">
            <a:solidFill>
              <a:srgbClr val="EEEE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1581912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Méthodologie et approche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2295144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697480"/>
            <a:ext cx="8412480" cy="0"/>
          </a:xfrm>
          <a:prstGeom prst="line">
            <a:avLst/>
          </a:prstGeom>
          <a:noFill/>
          <a:ln w="5080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2295144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Résultats principaux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5760" y="3008376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4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410712"/>
            <a:ext cx="8412480" cy="0"/>
          </a:xfrm>
          <a:prstGeom prst="line">
            <a:avLst/>
          </a:prstGeom>
          <a:noFill/>
          <a:ln w="5080">
            <a:solidFill>
              <a:srgbClr val="EEEE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3008376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Analyse et discussion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5760" y="372160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123944"/>
            <a:ext cx="8412480" cy="0"/>
          </a:xfrm>
          <a:prstGeom prst="line">
            <a:avLst/>
          </a:prstGeom>
          <a:noFill/>
          <a:ln w="5080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0" y="3721608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Conclusions et perspectives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65760" y="4892040"/>
            <a:ext cx="84124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0" y="491947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11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65760" y="491947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Ars Typographica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4124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51560" y="310896"/>
            <a:ext cx="7726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Titre de la section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04672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Paragraphe introductif de la section. Ce texte est composé en Times New Roman 18 pt, justifié à gauche. L'interlignage est de 1,4 pour une lisibilité optimale en projection.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719072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17190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Premier point principal avec explication concise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2340864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4086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Deuxième point principal avec données ou argument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" y="2962656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2962656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Troisième point avec conclusion partielle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5760" y="3584448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8368" y="358444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Quatrième point — note ou précision complémentaire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65760" y="4892040"/>
            <a:ext cx="84124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0" y="491947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11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65760" y="491947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Ars Typographica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4124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51560" y="310896"/>
            <a:ext cx="7726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Comparaison / Structure en deux colonnes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7772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Approche 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133856"/>
            <a:ext cx="3931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24358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·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66928" y="1243584"/>
            <a:ext cx="373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Avantage principal de l'approche 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8836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·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66928" y="1883664"/>
            <a:ext cx="373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Deuxième point positif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252374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·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66928" y="2523744"/>
            <a:ext cx="373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Contrainte ou limitation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316382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·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66928" y="3163824"/>
            <a:ext cx="373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Cas d'usage recommandé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54880" y="77724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Approche B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754880" y="1133856"/>
            <a:ext cx="3931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24358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·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956048" y="1243584"/>
            <a:ext cx="373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Avantage principal de l'approche B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54880" y="188366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·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56048" y="1883664"/>
            <a:ext cx="373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Meilleure complexité asymptotique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54880" y="252374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·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956048" y="2523744"/>
            <a:ext cx="373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Implémentation plus complexe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54880" y="3163824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·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956048" y="3163824"/>
            <a:ext cx="3730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Préféré pour les grands ensembles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0" y="777240"/>
            <a:ext cx="0" cy="384048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4892040"/>
            <a:ext cx="84124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0" y="491947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11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65760" y="491947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Ars Typographica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4124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51560" y="310896"/>
            <a:ext cx="7726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Résultat clé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0058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O(n log n)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640080" y="2011680"/>
            <a:ext cx="219456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0848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Complexité optimale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2450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borne inférieure prouvée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91840" y="10058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98.7 %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3566160" y="2011680"/>
            <a:ext cx="219456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20848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Précision mesurée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91840" y="2450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sur l'ensemble de test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17920" y="10058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3.2×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6492240" y="2011680"/>
            <a:ext cx="219456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20848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Accélération obtenue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2450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vs. algorithme de référence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34747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Note méthodologique : les mesures sont effectuées sur un ensemble de données représentatif de n = 10⁶ éléments, moyenne sur 50 répétitions indépendantes.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4892040"/>
            <a:ext cx="84124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0" y="491947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11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65760" y="491947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Ars Typographica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4124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51560" y="310896"/>
            <a:ext cx="7726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Données comparatives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804672"/>
            <a:ext cx="2011680" cy="4572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8046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Algorithme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377440" y="804672"/>
            <a:ext cx="1463040" cy="4572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77440" y="8046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Meilleures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840480" y="804672"/>
            <a:ext cx="1463040" cy="4572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8046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Moyen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03520" y="804672"/>
            <a:ext cx="1463040" cy="4572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8046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Pire cas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766560" y="804672"/>
            <a:ext cx="1463040" cy="45720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8046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Mémoire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1261872"/>
            <a:ext cx="201168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261872"/>
            <a:ext cx="201168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Insertion sort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377440" y="1261872"/>
            <a:ext cx="14630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77440" y="12618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40480" y="1261872"/>
            <a:ext cx="14630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0" y="12618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O(n²)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303520" y="1261872"/>
            <a:ext cx="14630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0" y="12618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O(n²)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66560" y="1261872"/>
            <a:ext cx="14630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12618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solidFill>
            <a:srgbClr val="F5F5F5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Mergesort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377440" y="1719072"/>
            <a:ext cx="1463040" cy="457200"/>
          </a:xfrm>
          <a:prstGeom prst="rect">
            <a:avLst/>
          </a:prstGeom>
          <a:solidFill>
            <a:srgbClr val="F5F5F5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77440" y="17190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 log n)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40480" y="1719072"/>
            <a:ext cx="1463040" cy="457200"/>
          </a:xfrm>
          <a:prstGeom prst="rect">
            <a:avLst/>
          </a:prstGeom>
          <a:solidFill>
            <a:srgbClr val="F5F5F5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0" y="17190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 log n)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03520" y="1719072"/>
            <a:ext cx="1463040" cy="457200"/>
          </a:xfrm>
          <a:prstGeom prst="rect">
            <a:avLst/>
          </a:prstGeom>
          <a:solidFill>
            <a:srgbClr val="F5F5F5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03520" y="17190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 log n)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766560" y="1719072"/>
            <a:ext cx="1463040" cy="457200"/>
          </a:xfrm>
          <a:prstGeom prst="rect">
            <a:avLst/>
          </a:prstGeom>
          <a:solidFill>
            <a:srgbClr val="F5F5F5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6560" y="17190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5760" y="2176272"/>
            <a:ext cx="201168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Quicksort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377440" y="2176272"/>
            <a:ext cx="14630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377440" y="21762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 log n)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840480" y="2176272"/>
            <a:ext cx="14630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840480" y="21762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 log n)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303520" y="2176272"/>
            <a:ext cx="14630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03520" y="21762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O(n²)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766560" y="2176272"/>
            <a:ext cx="14630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766560" y="21762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O(log n)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65760" y="2633472"/>
            <a:ext cx="2011680" cy="457200"/>
          </a:xfrm>
          <a:prstGeom prst="rect">
            <a:avLst/>
          </a:prstGeom>
          <a:solidFill>
            <a:srgbClr val="F5F5F5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2633472"/>
            <a:ext cx="201168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Heapsort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377440" y="2633472"/>
            <a:ext cx="1463040" cy="457200"/>
          </a:xfrm>
          <a:prstGeom prst="rect">
            <a:avLst/>
          </a:prstGeom>
          <a:solidFill>
            <a:srgbClr val="F5F5F5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377440" y="26334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 log n)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840480" y="2633472"/>
            <a:ext cx="1463040" cy="457200"/>
          </a:xfrm>
          <a:prstGeom prst="rect">
            <a:avLst/>
          </a:prstGeom>
          <a:solidFill>
            <a:srgbClr val="F5F5F5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840480" y="26334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 log n)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303520" y="2633472"/>
            <a:ext cx="1463040" cy="457200"/>
          </a:xfrm>
          <a:prstGeom prst="rect">
            <a:avLst/>
          </a:prstGeom>
          <a:solidFill>
            <a:srgbClr val="F5F5F5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03520" y="26334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 log n)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766560" y="2633472"/>
            <a:ext cx="1463040" cy="457200"/>
          </a:xfrm>
          <a:prstGeom prst="rect">
            <a:avLst/>
          </a:prstGeom>
          <a:solidFill>
            <a:srgbClr val="F5F5F5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766560" y="26334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365760" y="3090672"/>
            <a:ext cx="201168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" y="3090672"/>
            <a:ext cx="201168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Timsort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2377440" y="3090672"/>
            <a:ext cx="14630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377440" y="30906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840480" y="3090672"/>
            <a:ext cx="14630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840480" y="30906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 log n)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5303520" y="3090672"/>
            <a:ext cx="14630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303520" y="30906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 log n)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766560" y="3090672"/>
            <a:ext cx="14630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66560" y="30906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65760" y="3767328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Table 3.1 — Complexités des algorithmes de tri dans le modèle de comparaison.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365760" y="4892040"/>
            <a:ext cx="84124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772400" y="491947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11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365760" y="491947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Ars Typographica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4124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51560" y="310896"/>
            <a:ext cx="7726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Extrait de code ou pseudo-code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804672"/>
            <a:ext cx="8412480" cy="320040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886968"/>
            <a:ext cx="79552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kmp_search(text, pattern):
</a:t>
            </a:r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n, m := len(text), len(pattern)
</a:t>
            </a:r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lps  := compute_lps(pattern)    -- Longest proper prefix-suffix
</a:t>
            </a:r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 := 0;  j := 0
</a:t>
            </a:r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i &lt; n do
</a:t>
            </a:r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pattern[j] = text[i] then
</a:t>
            </a:r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i++; j++
</a:t>
            </a:r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j = m then return i - j  -- Match at position i-j
</a:t>
            </a:r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 if i &lt; n and pattern[j] != text[i] then
</a:t>
            </a:r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j != 0 then j := lps[j-1] else i++
</a:t>
            </a:r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-1  -- Not found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406908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Algorithme 4.1 — Recherche de motif par Knuth–Morris–Pratt.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4892040"/>
            <a:ext cx="84124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491947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11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491947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Ars Typographica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4124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51560" y="310896"/>
            <a:ext cx="7726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9611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89611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Première conclusion principale tirée des résultats présentés.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65760" y="1463040"/>
            <a:ext cx="8412480" cy="0"/>
          </a:xfrm>
          <a:prstGeom prst="line">
            <a:avLst/>
          </a:prstGeom>
          <a:noFill/>
          <a:ln w="5080">
            <a:solidFill>
              <a:srgbClr val="EEEE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90195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190195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Deuxième conclusion avec implication pratique ou théorique.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2468880"/>
            <a:ext cx="8412480" cy="0"/>
          </a:xfrm>
          <a:prstGeom prst="line">
            <a:avLst/>
          </a:prstGeom>
          <a:noFill/>
          <a:ln w="5080">
            <a:solidFill>
              <a:srgbClr val="EEEE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907792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22960" y="2907792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Troisième conclusion ou perspective ouverte pour des travaux futurs.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65760" y="3474720"/>
            <a:ext cx="8412480" cy="868680"/>
          </a:xfrm>
          <a:prstGeom prst="rect">
            <a:avLst/>
          </a:prstGeom>
          <a:solidFill>
            <a:srgbClr val="F5F5F5"/>
          </a:solidFill>
          <a:ln w="508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52958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Perspectives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794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Extension de la méthode à d'autres classes d'algorithmes. Implémentation parallèle sur architectures multi-cœurs. Validation empirique à grande échelle.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4892040"/>
            <a:ext cx="84124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491947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11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65760" y="491947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Ars Typographica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1371600"/>
            <a:ext cx="8412480" cy="0"/>
          </a:xfrm>
          <a:prstGeom prst="line">
            <a:avLst/>
          </a:prstGeom>
          <a:noFill/>
          <a:ln w="1524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50876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Merci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365760" y="28346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Questions et discussion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3456432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35661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prénom.nom@institution.fr  ·  https://example.org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873752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Ars Typographica · Charte Graphique Minimaliste · Mars 2026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4124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App.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51560" y="310896"/>
            <a:ext cx="7726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Environnements mathématiques numérotés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04672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Chaque environnement possède un style visuel distinct. Le compteur Définition / Théorème / Proposition / Lemme / Corollaire est partagé par section.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280160"/>
            <a:ext cx="3977640" cy="1207008"/>
          </a:xfrm>
          <a:prstGeom prst="rect">
            <a:avLst/>
          </a:prstGeom>
          <a:solidFill>
            <a:srgbClr val="F5F5F5"/>
          </a:solidFill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335024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Définition 2.1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517904"/>
            <a:ext cx="3794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fond gris · compteur partagé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57200" y="1682496"/>
            <a:ext cx="3776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 espace métrique (X, d) est complet si toute suite de Cauchy converge dans X.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34840" y="1280160"/>
            <a:ext cx="3977640" cy="1207008"/>
          </a:xfrm>
          <a:prstGeom prst="rect">
            <a:avLst/>
          </a:prstGeom>
          <a:solidFill>
            <a:srgbClr val="F5F5F5"/>
          </a:solidFill>
          <a:ln w="508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26280" y="1335024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Théorème 2.2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26280" y="1517904"/>
            <a:ext cx="3794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fond gris · énoncé principal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526280" y="1682496"/>
            <a:ext cx="3776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Tout algorithme de tri par comparaison requiert Ω(n log n) comparaisons.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2615184"/>
            <a:ext cx="3977640" cy="1207008"/>
          </a:xfrm>
          <a:prstGeom prst="rect">
            <a:avLst/>
          </a:prstGeom>
          <a:solidFill>
            <a:srgbClr val="F5F5F5"/>
          </a:solidFill>
          <a:ln w="5080">
            <a:solidFill>
              <a:srgbClr val="CCCCC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670048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Proposition 2.3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2852928"/>
            <a:ext cx="3794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fond gris · résultat intermédiaire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57200" y="3017520"/>
            <a:ext cx="3776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 (uₙ) converge, elle est de Cauchy. La réciproque est vraie dans ℝ.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434840" y="2615184"/>
            <a:ext cx="3977640" cy="1207008"/>
          </a:xfrm>
          <a:prstGeom prst="rect">
            <a:avLst/>
          </a:prstGeom>
          <a:solidFill>
            <a:srgbClr val="FFFFFF"/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34840" y="2615184"/>
            <a:ext cx="45720" cy="1207008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62856" y="2670048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Exemple 2.1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62856" y="2852928"/>
            <a:ext cx="3794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trait gauche · illustration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562856" y="3017520"/>
            <a:ext cx="3776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 suite uₙ = rⁿ converge vers 0 si |r| &lt; 1 et diverge sinon.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3950208"/>
            <a:ext cx="3977640" cy="1207008"/>
          </a:xfrm>
          <a:prstGeom prst="rect">
            <a:avLst/>
          </a:prstGeom>
          <a:solidFill>
            <a:srgbClr val="FFFFFF"/>
          </a:solidFill>
          <a:ln w="1016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00507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Exercice 3.1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187952"/>
            <a:ext cx="3794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cadre fin · à résoudre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57200" y="4352544"/>
            <a:ext cx="3776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Montrer que fₙ(x) = x/(1+nx²) converge uniformément vers 0 sur ℝ.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34840" y="3950208"/>
            <a:ext cx="3977640" cy="1207008"/>
          </a:xfrm>
          <a:prstGeom prst="rect">
            <a:avLst/>
          </a:prstGeom>
          <a:solidFill>
            <a:srgbClr val="FFFFFF"/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34840" y="3950208"/>
            <a:ext cx="45720" cy="1207008"/>
          </a:xfrm>
          <a:prstGeom prst="rect">
            <a:avLst/>
          </a:prstGeom>
          <a:solidFill>
            <a:srgbClr val="CCCCCC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62856" y="4005072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Correction 3.1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562856" y="4187952"/>
            <a:ext cx="3794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trait gauche italique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562856" y="4352544"/>
            <a:ext cx="3776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 AM-GM : 1+nx² ≥ 2√n|x|, donc |fₙ(x)| ≤ 1/(2√n) → 0.  ◆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4892040"/>
            <a:ext cx="84124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772400" y="491947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11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65760" y="491947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Ars Typographica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4124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 App.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051560" y="310896"/>
            <a:ext cx="7726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Feuille d'exercices — Layout type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65836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822960"/>
            <a:ext cx="8412480" cy="1170432"/>
          </a:xfrm>
          <a:prstGeom prst="rect">
            <a:avLst/>
          </a:prstGeom>
          <a:solidFill>
            <a:srgbClr val="FFFFFF"/>
          </a:solidFill>
          <a:ln w="762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89611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Exercice 3.1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68880" y="905256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Convergence uniforme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12064" y="1152144"/>
            <a:ext cx="8119872" cy="0"/>
          </a:xfrm>
          <a:prstGeom prst="line">
            <a:avLst/>
          </a:prstGeom>
          <a:noFill/>
          <a:ln w="381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2064" y="1225296"/>
            <a:ext cx="81198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Montrer que la suite fₙ(x) = x / (1 + nx²) converge uniformément vers 0 sur ℝ. On pourra utiliser l'inégalité AM-GM.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130552"/>
            <a:ext cx="8412480" cy="1170432"/>
          </a:xfrm>
          <a:prstGeom prst="rect">
            <a:avLst/>
          </a:prstGeom>
          <a:solidFill>
            <a:srgbClr val="FFFFFF"/>
          </a:solidFill>
          <a:ln w="7620">
            <a:solidFill>
              <a:srgbClr val="11111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220370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Exercice 3.2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68880" y="2212848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Tri par fusion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2064" y="2459736"/>
            <a:ext cx="8119872" cy="0"/>
          </a:xfrm>
          <a:prstGeom prst="line">
            <a:avLst/>
          </a:prstGeom>
          <a:noFill/>
          <a:ln w="381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2532888"/>
            <a:ext cx="81198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Établir la récurrence T(n) = 2T(n/2) + Θ(n) et en déduire T(n) = Θ(n log n) par le théorème maître (cas 2).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438144"/>
            <a:ext cx="8412480" cy="1170432"/>
          </a:xfrm>
          <a:prstGeom prst="rect">
            <a:avLst/>
          </a:prstGeom>
          <a:solidFill>
            <a:srgbClr val="FFFFFF"/>
          </a:solidFill>
          <a:ln w="762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" y="351129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Exercice 3.3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468880" y="3520440"/>
            <a:ext cx="6126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Inégalité de Jensen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2064" y="3767328"/>
            <a:ext cx="8119872" cy="0"/>
          </a:xfrm>
          <a:prstGeom prst="line">
            <a:avLst/>
          </a:prstGeom>
          <a:noFill/>
          <a:ln w="381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2064" y="3840480"/>
            <a:ext cx="81198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Soit φ : ℝ → ℝ convexe et X une variable aléatoire intégrable. Démontrer φ(𝔼[X]) ≤ 𝔼[φ(X)] en utilisant la définition de la convexité.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66344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 corrections complètes sont disponibles dans les templates DOCX et LaTeX.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4892040"/>
            <a:ext cx="84124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0" y="491947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AAA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11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65760" y="491947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AAAAA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Ars Typographica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Charte Graphique Minimaliste</dc:title>
  <dc:subject>Présentation conforme — Inspiration TAOCP / Knuth</dc:subject>
  <dc:creator>Ars Typographica</dc:creator>
  <cp:lastModifiedBy>Ars Typographica</cp:lastModifiedBy>
  <cp:revision>1</cp:revision>
  <dcterms:created xsi:type="dcterms:W3CDTF">2026-03-07T08:27:15Z</dcterms:created>
  <dcterms:modified xsi:type="dcterms:W3CDTF">2026-03-07T08:27:15Z</dcterms:modified>
</cp:coreProperties>
</file>