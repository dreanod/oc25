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Titre de la Présentation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1965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Sous-titre ou description succincte de la présentation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2514600"/>
            <a:ext cx="8412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6517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Auteur    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Prénom Nom
</a:t>
            </a:r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Date      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Mars 2026
</a:t>
            </a:r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Version   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737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Ars Typographica · Charte Graphique Minimaliste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412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108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 de la présentation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71016"/>
            <a:ext cx="8412480" cy="0"/>
          </a:xfrm>
          <a:prstGeom prst="line">
            <a:avLst/>
          </a:prstGeom>
          <a:noFill/>
          <a:ln w="508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86868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et contexte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58191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84248"/>
            <a:ext cx="8412480" cy="0"/>
          </a:xfrm>
          <a:prstGeom prst="line">
            <a:avLst/>
          </a:prstGeom>
          <a:noFill/>
          <a:ln w="508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581912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Méthodologie et approche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229514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8412480" cy="0"/>
          </a:xfrm>
          <a:prstGeom prst="line">
            <a:avLst/>
          </a:prstGeom>
          <a:noFill/>
          <a:ln w="508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295144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Résultats principaux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300837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10712"/>
            <a:ext cx="8412480" cy="0"/>
          </a:xfrm>
          <a:prstGeom prst="line">
            <a:avLst/>
          </a:prstGeom>
          <a:noFill/>
          <a:ln w="508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008376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Analyse et discussion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372160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123944"/>
            <a:ext cx="8412480" cy="0"/>
          </a:xfrm>
          <a:prstGeom prst="line">
            <a:avLst/>
          </a:prstGeom>
          <a:noFill/>
          <a:ln w="508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72160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Conclusions et perspectives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49194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9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49194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Ars Typographica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412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1560" y="310896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Titre de la section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Paragraphe introductif de la section. Ce texte est composé en Times New Roman 18 pt, justifié à gauche. L'interlignage est de 1,4 pour une lisibilité optimale en projection.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17190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Premier point principal avec explication concise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340864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234086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Deuxième point principal avec données ou argument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296265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296265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Troisième point avec conclusion partielle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58444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" y="35844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Quatrième point — note ou précision complémentaire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49194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9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49194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Ars Typographica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412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1560" y="310896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Comparaison / Structure en deux colonnes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Approche 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133856"/>
            <a:ext cx="3931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43584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Avantage principal de l'approche 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883664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6928" y="1883664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Deuxième point positif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523744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" y="2523744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Contrainte ou limitation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163824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6928" y="3163824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 d'usage recommandé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Approche B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1133856"/>
            <a:ext cx="3931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243584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56048" y="1243584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Avantage principal de l'approche 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1883664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56048" y="1883664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Meilleure complexité asymptotique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2523744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56048" y="2523744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Implémentation plus complexe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3163824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56048" y="3163824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Préféré pour les grands ensembles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0" y="777240"/>
            <a:ext cx="0" cy="384048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49194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9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5760" y="49194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Ars Typographica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412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1560" y="310896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Résultat clé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O(n log n)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1945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848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Complexité optimale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borne inférieure prouvée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0058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98.7 %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3566160" y="2011680"/>
            <a:ext cx="21945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0848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Précision mesurée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sur l'ensemble de test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0058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3.2×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6492240" y="2011680"/>
            <a:ext cx="21945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0848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Accélération obtenue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vs. algorithme de référence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474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 méthodologique : les mesures sont effectuées sur un ensemble de données représentatif de n = 10⁶ éléments, moyenne sur 50 répétitions indépendantes.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49194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9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49194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Ars Typographica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412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1560" y="310896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Données comparatives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04672"/>
            <a:ext cx="201168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804672"/>
            <a:ext cx="146304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8046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Meilleures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804672"/>
            <a:ext cx="146304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8046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Moyen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804672"/>
            <a:ext cx="146304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8046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Pire cas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804672"/>
            <a:ext cx="146304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8046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Mémoire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261872"/>
            <a:ext cx="20116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261872"/>
            <a:ext cx="201168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Insertion sort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77440" y="1261872"/>
            <a:ext cx="1463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12618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1261872"/>
            <a:ext cx="1463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12618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03520" y="1261872"/>
            <a:ext cx="1463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2618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1261872"/>
            <a:ext cx="1463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2618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Mergesort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77440" y="1719072"/>
            <a:ext cx="1463040" cy="45720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17190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1719072"/>
            <a:ext cx="1463040" cy="45720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17190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03520" y="1719072"/>
            <a:ext cx="1463040" cy="45720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17190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1719072"/>
            <a:ext cx="1463040" cy="45720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17190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176272"/>
            <a:ext cx="20116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176272"/>
            <a:ext cx="201168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Quicksort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377440" y="2176272"/>
            <a:ext cx="1463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21762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40480" y="2176272"/>
            <a:ext cx="1463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0" y="21762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03520" y="2176272"/>
            <a:ext cx="1463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0" y="21762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66560" y="2176272"/>
            <a:ext cx="1463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21762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2633472"/>
            <a:ext cx="2011680" cy="45720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2633472"/>
            <a:ext cx="201168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Heapsort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377440" y="2633472"/>
            <a:ext cx="1463040" cy="45720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77440" y="26334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840480" y="2633472"/>
            <a:ext cx="1463040" cy="45720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0" y="26334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303520" y="2633472"/>
            <a:ext cx="1463040" cy="45720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0" y="26334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766560" y="2633472"/>
            <a:ext cx="1463040" cy="45720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66560" y="26334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5760" y="3090672"/>
            <a:ext cx="20116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3090672"/>
            <a:ext cx="201168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Timsort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377440" y="3090672"/>
            <a:ext cx="1463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77440" y="30906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840480" y="3090672"/>
            <a:ext cx="1463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40480" y="30906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303520" y="3090672"/>
            <a:ext cx="1463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03520" y="30906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766560" y="3090672"/>
            <a:ext cx="1463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66560" y="30906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65760" y="37673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3.1 — Complexités des algorithmes de tri dans le modèle de comparaison.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72400" y="49194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9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65760" y="49194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Ars Typographica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412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1560" y="310896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Extrait de code ou pseudo-code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04672"/>
            <a:ext cx="8412480" cy="32004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86968"/>
            <a:ext cx="7955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kmp_search(text, pattern):
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n, m := len(text), len(pattern)
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lps  := compute_lps(pattern)    -- Longest proper prefix-suffix
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:= 0;  j := 0
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i &lt; n do
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pattern[j] = text[i] then
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i++; j++
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j = m then return i - j  -- Match at position i-j
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if i &lt; n and pattern[j] != text[i] then
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j != 0 then j := lps[j-1] else i++
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-1  -- Not found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0690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Algorithme 4.1 — Recherche de motif par Knuth–Morris–Pratt.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49194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9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49194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Ars Typographica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412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1560" y="310896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89611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Première conclusion principale tirée des résultats présentés.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8412480" cy="0"/>
          </a:xfrm>
          <a:prstGeom prst="line">
            <a:avLst/>
          </a:prstGeom>
          <a:noFill/>
          <a:ln w="5080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019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Deuxième conclusion avec implication pratique ou théorique.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8412480" cy="0"/>
          </a:xfrm>
          <a:prstGeom prst="line">
            <a:avLst/>
          </a:prstGeom>
          <a:noFill/>
          <a:ln w="508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077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2907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Troisième conclusion ou perspective ouverte pour des travaux futurs.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8412480" cy="868680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9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Perspectives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Extension de la méthode à d'autres classes d'algorithmes. Implémentation parallèle sur architectures multi-cœurs. Validation empirique à grande échelle.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49194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9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49194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Ars Typographica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0"/>
            <a:ext cx="841248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0876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Merci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2834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et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3456432"/>
            <a:ext cx="8412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566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prénom.nom@institution.fr  ·  https://example.org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737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Ars Typographica · Charte Graphique Minimaliste · Mars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Charte Graphique Minimaliste</dc:title>
  <dc:subject>Présentation conforme — Inspiration TAOCP / Knuth</dc:subject>
  <dc:creator>Ars Typographica</dc:creator>
  <cp:lastModifiedBy>Ars Typographica</cp:lastModifiedBy>
  <cp:revision>1</cp:revision>
  <dcterms:created xsi:type="dcterms:W3CDTF">2026-03-07T06:21:53Z</dcterms:created>
  <dcterms:modified xsi:type="dcterms:W3CDTF">2026-03-07T06:21:53Z</dcterms:modified>
</cp:coreProperties>
</file>